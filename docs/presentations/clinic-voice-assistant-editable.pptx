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Примеры из обсуждения: диета, приём пищи, питьевой режим, часы лаборатории. Никаких универсальных правил подготовки: их задаёт клиника. Сообщение о нарушении подготовки не должно автоматически отменять медицински необходимую помощь.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несколько дней найти замену проще, чем за час — гипотеза для проверки. Отбор кандидатов: согласие на более ранний приём, профиль, основание записи и достаточное время подготовки. Не менять порядок посещения и не отправлять врача домой автоматически. Нельзя двойное бронирование на основании вероятности неявки.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пользователя: направление на месяц при ожидании два месяца и более. Не общий норматив. Повторная запись — только если разрешена действующим направлением или планом наблюдения. Хронический диагноз сам по себе не является разрешением. Отметку вносит уполномоченный врач; нужен аудит и связь с МИС. Риски доступности эскалируются по утверждённому регламенту.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градиента уверенности из спича: использовать историю посещений для оценки риска и работы с подтверждениями. Порог ниже 50% не считается доказанным и не вводится как правило. Оценку нужно проверить, объяснять сотруднику и не использовать для отказа в помощи. Предлагать прийти раньше допустимо только при наличии реального доступного слота.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Предзаписанные реплики, ограниченная модель и локальная обработка — целевая архитектура. Подбор оборудования и расчёт стоимости требуют нагрузочных замеров. Пара видеокарт — не подтверждённая конфигурация. В производственном контуре действуют требования защиты ПДн.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ПРОИЗВОДИТЕЛЬНОСТЬ ПОЛИКЛИНИКИ / КОНЦЕПЦИЯ РЕШЕНИЯ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48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Очередь на месяц.</a:t>
            </a:r>
            <a:endParaRPr lang="ru-RU" sz="48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48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Врач сидит без пациента.</a:t>
            </a:r>
            <a:endParaRPr lang="ru-RU" sz="4800" dirty="0"/>
          </a:p>
        </p:txBody>
      </p:sp>
      <p:sp>
        <p:nvSpPr>
          <p:cNvPr id="6" name="Text 3"/>
          <p:cNvSpPr/>
          <p:nvPr/>
        </p:nvSpPr>
        <p:spPr>
          <a:xfrm>
            <a:off x="594360" y="3749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Пациент хочет попасть. Врач хочет принимать.</a:t>
            </a:r>
            <a:endParaRPr lang="ru-RU" sz="28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Регистратор не успевает их соединить.</a:t>
            </a:r>
            <a:endParaRPr lang="ru-RU" sz="2800" dirty="0"/>
          </a:p>
        </p:txBody>
      </p:sp>
      <p:sp>
        <p:nvSpPr>
          <p:cNvPr id="7" name="Shape 4"/>
          <p:cNvSpPr/>
          <p:nvPr/>
        </p:nvSpPr>
        <p:spPr>
          <a:xfrm>
            <a:off x="594360" y="5486400"/>
            <a:ext cx="10972800" cy="50292"/>
          </a:xfrm>
          <a:prstGeom prst="rect">
            <a:avLst/>
          </a:prstGeom>
          <a:solidFill>
            <a:srgbClr val="F66A43"/>
          </a:solidFill>
          <a:ln w="12700">
            <a:solidFill>
              <a:srgbClr val="F66A4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57424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3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Проблема не в людях. Проблема — в производительности процесса.</a:t>
            </a:r>
            <a:endParaRPr lang="ru-RU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Государственная поликлиника · Сценарии очереди — иллюстрация; измеренные показатели далее взяты из ТЗ.</a:t>
            </a:r>
            <a:endParaRPr lang="ru-RU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/ ПИКИ НЕЛЬЗЯ ОБСЛУЖИВАТЬ ПОСТОЯННЫМ ПЕРЕГРУЗОМ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37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Всем нужен талон утром.</a:t>
            </a:r>
            <a:endParaRPr lang="ru-RU" sz="37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37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Штат нужен на весь день.</a:t>
            </a:r>
            <a:endParaRPr lang="ru-RU" sz="3700" dirty="0"/>
          </a:p>
        </p:txBody>
      </p:sp>
      <p:sp>
        <p:nvSpPr>
          <p:cNvPr id="6" name="Shape 3"/>
          <p:cNvSpPr/>
          <p:nvPr/>
        </p:nvSpPr>
        <p:spPr>
          <a:xfrm>
            <a:off x="777240" y="4709160"/>
            <a:ext cx="274320" cy="36576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3520440"/>
            <a:ext cx="274320" cy="1554480"/>
          </a:xfrm>
          <a:prstGeom prst="roundRect">
            <a:avLst>
              <a:gd name="adj" fmla="val 27778"/>
            </a:avLst>
          </a:prstGeom>
          <a:solidFill>
            <a:srgbClr val="F66A43"/>
          </a:solidFill>
          <a:ln w="12700">
            <a:solidFill>
              <a:srgbClr val="F66A4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36776" y="3063240"/>
            <a:ext cx="274320" cy="2011680"/>
          </a:xfrm>
          <a:prstGeom prst="roundRect">
            <a:avLst>
              <a:gd name="adj" fmla="val 27778"/>
            </a:avLst>
          </a:prstGeom>
          <a:solidFill>
            <a:srgbClr val="F66A43"/>
          </a:solidFill>
          <a:ln w="12700">
            <a:solidFill>
              <a:srgbClr val="F66A4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66544" y="4160520"/>
            <a:ext cx="274320" cy="91440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96312" y="4617720"/>
            <a:ext cx="274320" cy="45720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6080" y="4754880"/>
            <a:ext cx="274320" cy="32004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55848" y="4800600"/>
            <a:ext cx="274320" cy="27432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85616" y="4709160"/>
            <a:ext cx="274320" cy="36576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15384" y="4251960"/>
            <a:ext cx="274320" cy="82296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3611880"/>
            <a:ext cx="274320" cy="1463040"/>
          </a:xfrm>
          <a:prstGeom prst="roundRect">
            <a:avLst>
              <a:gd name="adj" fmla="val 27778"/>
            </a:avLst>
          </a:prstGeom>
          <a:solidFill>
            <a:srgbClr val="F66A43"/>
          </a:solidFill>
          <a:ln w="12700">
            <a:solidFill>
              <a:srgbClr val="F66A4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74920" y="4389120"/>
            <a:ext cx="274320" cy="68580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04688" y="4754880"/>
            <a:ext cx="274320" cy="320040"/>
          </a:xfrm>
          <a:prstGeom prst="roundRect">
            <a:avLst>
              <a:gd name="adj" fmla="val 27778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303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100" b="1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УТРО                  ДЕНЬ                  ВЕЧЕР</a:t>
            </a:r>
            <a:endParaRPr lang="ru-RU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5200" b="1" dirty="0">
                <a:solidFill>
                  <a:srgbClr val="F66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30–40%</a:t>
            </a:r>
            <a:endParaRPr lang="ru-RU" sz="5200" dirty="0"/>
          </a:p>
        </p:txBody>
      </p:sp>
      <p:sp>
        <p:nvSpPr>
          <p:cNvPr id="20" name="Text 17"/>
          <p:cNvSpPr/>
          <p:nvPr/>
        </p:nvSpPr>
        <p:spPr>
          <a:xfrm>
            <a:off x="6583680" y="3703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5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звонков без ответа</a:t>
            </a:r>
            <a:endParaRPr lang="ru-RU" sz="25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5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 часы пик</a:t>
            </a:r>
            <a:endParaRPr lang="ru-RU" sz="2500" dirty="0"/>
          </a:p>
        </p:txBody>
      </p:sp>
      <p:sp>
        <p:nvSpPr>
          <p:cNvPr id="21" name="Text 18"/>
          <p:cNvSpPr/>
          <p:nvPr/>
        </p:nvSpPr>
        <p:spPr>
          <a:xfrm>
            <a:off x="594360" y="58704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9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Больше людей под пик — постоянные расходы. Робот — ресурс под поток.</a:t>
            </a:r>
            <a:endParaRPr lang="ru-RU" sz="190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30–40% и часы пиков — ТЗ. График схематический, не почасовая статистика. Экономика найма требует расчёта.</a:t>
            </a:r>
            <a:endParaRPr lang="ru-RU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/ НЕДОЗВОН ПРЕВРАЩАЕТСЯ В ОЧЕРЕДЬ У ОКНА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3669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взяли трубку?</a:t>
            </a:r>
            <a:endParaRPr lang="ru-RU" sz="3669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3669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Значит, придётся прийти лично.</a:t>
            </a:r>
            <a:endParaRPr lang="ru-RU" sz="3669" dirty="0"/>
          </a:p>
        </p:txBody>
      </p:sp>
      <p:sp>
        <p:nvSpPr>
          <p:cNvPr id="6" name="Shape 3"/>
          <p:cNvSpPr/>
          <p:nvPr/>
        </p:nvSpPr>
        <p:spPr>
          <a:xfrm>
            <a:off x="594360" y="2743200"/>
            <a:ext cx="3383280" cy="45720"/>
          </a:xfrm>
          <a:prstGeom prst="rect">
            <a:avLst/>
          </a:prstGeom>
          <a:solidFill>
            <a:srgbClr val="F66A43"/>
          </a:solidFill>
          <a:ln w="12700">
            <a:solidFill>
              <a:srgbClr val="F66A4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7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ЗВОНОК</a:t>
            </a:r>
            <a:endParaRPr lang="ru-RU" sz="1700" dirty="0"/>
          </a:p>
        </p:txBody>
      </p:sp>
      <p:sp>
        <p:nvSpPr>
          <p:cNvPr id="8" name="Text 5"/>
          <p:cNvSpPr/>
          <p:nvPr/>
        </p:nvSpPr>
        <p:spPr>
          <a:xfrm>
            <a:off x="594360" y="38221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ответа.</a:t>
            </a:r>
            <a:endParaRPr lang="ru-RU" sz="26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Звоню снова.</a:t>
            </a:r>
            <a:endParaRPr lang="ru-RU" sz="2600" dirty="0"/>
          </a:p>
        </p:txBody>
      </p:sp>
      <p:sp>
        <p:nvSpPr>
          <p:cNvPr id="9" name="Shape 6"/>
          <p:cNvSpPr/>
          <p:nvPr/>
        </p:nvSpPr>
        <p:spPr>
          <a:xfrm>
            <a:off x="4389120" y="2743200"/>
            <a:ext cx="3383280" cy="45720"/>
          </a:xfrm>
          <a:prstGeom prst="rect">
            <a:avLst/>
          </a:prstGeom>
          <a:solidFill>
            <a:srgbClr val="F66A43"/>
          </a:solidFill>
          <a:ln w="12700">
            <a:solidFill>
              <a:srgbClr val="F66A4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7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РЕГИСТРАТУРА</a:t>
            </a:r>
            <a:endParaRPr lang="ru-RU" sz="1700" dirty="0"/>
          </a:p>
        </p:txBody>
      </p:sp>
      <p:sp>
        <p:nvSpPr>
          <p:cNvPr id="11" name="Text 8"/>
          <p:cNvSpPr/>
          <p:nvPr/>
        </p:nvSpPr>
        <p:spPr>
          <a:xfrm>
            <a:off x="4389120" y="38221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Вживую надёжнее.</a:t>
            </a:r>
            <a:endParaRPr lang="ru-RU" sz="26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Встаю в очередь.</a:t>
            </a:r>
            <a:endParaRPr lang="ru-RU" sz="2600" dirty="0"/>
          </a:p>
        </p:txBody>
      </p:sp>
      <p:sp>
        <p:nvSpPr>
          <p:cNvPr id="12" name="Shape 9"/>
          <p:cNvSpPr/>
          <p:nvPr/>
        </p:nvSpPr>
        <p:spPr>
          <a:xfrm>
            <a:off x="8183880" y="2743200"/>
            <a:ext cx="3383280" cy="45720"/>
          </a:xfrm>
          <a:prstGeom prst="rect">
            <a:avLst/>
          </a:prstGeom>
          <a:solidFill>
            <a:srgbClr val="F66A43"/>
          </a:solidFill>
          <a:ln w="12700">
            <a:solidFill>
              <a:srgbClr val="F66A4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388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7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НОВЫЙ ЗВОНОК</a:t>
            </a:r>
            <a:endParaRPr lang="ru-RU" sz="1700" dirty="0"/>
          </a:p>
        </p:txBody>
      </p:sp>
      <p:sp>
        <p:nvSpPr>
          <p:cNvPr id="14" name="Text 11"/>
          <p:cNvSpPr/>
          <p:nvPr/>
        </p:nvSpPr>
        <p:spPr>
          <a:xfrm>
            <a:off x="8183880" y="38221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Сотрудник у окна.</a:t>
            </a:r>
            <a:endParaRPr lang="ru-RU" sz="26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Опять нет ответа.</a:t>
            </a:r>
            <a:endParaRPr lang="ru-RU" sz="2600" dirty="0"/>
          </a:p>
        </p:txBody>
      </p:sp>
      <p:sp>
        <p:nvSpPr>
          <p:cNvPr id="15" name="Text 12"/>
          <p:cNvSpPr/>
          <p:nvPr/>
        </p:nvSpPr>
        <p:spPr>
          <a:xfrm>
            <a:off x="594360" y="56509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125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Робот отвечает на типовое. Человек разбирает сложное — без повторного сбора данных.</a:t>
            </a:r>
            <a:endParaRPr lang="ru-RU" sz="2125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Цель: убрать повторные обращения и переключения, а не заменить регистраторов.</a:t>
            </a:r>
            <a:endParaRPr lang="ru-RU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/ ЗАПОЛНЕННОЕ РАСПИСАНИЕ НЕ РАВНО СОСТОЯВШИМСЯ ПРИЁМАМ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4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Талон достали.</a:t>
            </a:r>
            <a:endParaRPr lang="ru-RU" sz="40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4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 время ожидания — забыли.</a:t>
            </a:r>
            <a:endParaRPr lang="ru-RU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28803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6600" b="1" dirty="0">
                <a:solidFill>
                  <a:srgbClr val="FFAF9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18–25%</a:t>
            </a:r>
            <a:endParaRPr lang="ru-RU" sz="66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неявок без напоминаний</a:t>
            </a:r>
            <a:endParaRPr lang="ru-RU" sz="24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 данным заказчика</a:t>
            </a:r>
            <a:endParaRPr lang="ru-RU" sz="2400" dirty="0"/>
          </a:p>
        </p:txBody>
      </p:sp>
      <p:sp>
        <p:nvSpPr>
          <p:cNvPr id="8" name="Text 5"/>
          <p:cNvSpPr/>
          <p:nvPr/>
        </p:nvSpPr>
        <p:spPr>
          <a:xfrm>
            <a:off x="6858000" y="2834640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Врач на месте.</a:t>
            </a:r>
            <a:endParaRPr lang="ru-RU" sz="26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Кабинет оплачен.</a:t>
            </a:r>
            <a:endParaRPr lang="ru-RU" sz="26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Другие пациенты ждут.</a:t>
            </a:r>
            <a:endParaRPr lang="ru-RU" sz="26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6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Слот пропал.</a:t>
            </a:r>
            <a:endParaRPr lang="ru-RU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Нам нужна не красивая запись в расписании. Нам нужен пациент на приёме.</a:t>
            </a:r>
            <a:endParaRPr lang="ru-RU" sz="2100" dirty="0"/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A9C5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Данные ТЗ. Эффект напоминаний и работы с листом ожидания ещё предстоит проверить.</a:t>
            </a:r>
            <a:endParaRPr lang="ru-RU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/ ПРИШЁЛ — ТОЖЕ НЕ ВСЕГДА ЗНАЧИТ ГОТОВ</a:t>
            </a:r>
            <a:endParaRPr lang="ru-RU" sz="1000" dirty="0"/>
          </a:p>
        </p:txBody>
      </p:sp>
      <p:sp>
        <p:nvSpPr>
          <p:cNvPr id="4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38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Пациент дошёл.</a:t>
            </a:r>
            <a:endParaRPr lang="ru-RU" sz="38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38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Исследование не состоялось.</a:t>
            </a:r>
            <a:endParaRPr lang="ru-RU" sz="3800" dirty="0"/>
          </a:p>
        </p:txBody>
      </p:sp>
      <p:sp>
        <p:nvSpPr>
          <p:cNvPr id="6" name="Text 3"/>
          <p:cNvSpPr/>
          <p:nvPr/>
        </p:nvSpPr>
        <p:spPr>
          <a:xfrm>
            <a:off x="59436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600" b="1" dirty="0">
                <a:solidFill>
                  <a:srgbClr val="F66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ПОДГОТОВКА</a:t>
            </a:r>
            <a:endParaRPr lang="ru-RU" sz="1600" dirty="0"/>
          </a:p>
        </p:txBody>
      </p:sp>
      <p:sp>
        <p:nvSpPr>
          <p:cNvPr id="7" name="Text 4"/>
          <p:cNvSpPr/>
          <p:nvPr/>
        </p:nvSpPr>
        <p:spPr>
          <a:xfrm>
            <a:off x="3383280" y="2697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5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выполнил назначенные условия</a:t>
            </a:r>
            <a:endParaRPr lang="ru-RU" sz="2500" dirty="0"/>
          </a:p>
        </p:txBody>
      </p:sp>
      <p:sp>
        <p:nvSpPr>
          <p:cNvPr id="8" name="Shape 5"/>
          <p:cNvSpPr/>
          <p:nvPr/>
        </p:nvSpPr>
        <p:spPr>
          <a:xfrm>
            <a:off x="594360" y="3383280"/>
            <a:ext cx="10972800" cy="10973"/>
          </a:xfrm>
          <a:prstGeom prst="rect">
            <a:avLst/>
          </a:prstGeom>
          <a:solidFill>
            <a:srgbClr val="D6DCD4"/>
          </a:solidFill>
          <a:ln w="12700">
            <a:solidFill>
              <a:srgbClr val="D6DCD4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600" b="1" dirty="0">
                <a:solidFill>
                  <a:srgbClr val="F66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ВРЕМЯ</a:t>
            </a:r>
            <a:endParaRPr lang="ru-RU" sz="1600" dirty="0"/>
          </a:p>
        </p:txBody>
      </p:sp>
      <p:sp>
        <p:nvSpPr>
          <p:cNvPr id="10" name="Text 7"/>
          <p:cNvSpPr/>
          <p:nvPr/>
        </p:nvSpPr>
        <p:spPr>
          <a:xfrm>
            <a:off x="3383280" y="35661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5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учёл часы приёма материала</a:t>
            </a:r>
            <a:endParaRPr lang="ru-RU" sz="2500" dirty="0"/>
          </a:p>
        </p:txBody>
      </p:sp>
      <p:sp>
        <p:nvSpPr>
          <p:cNvPr id="11" name="Shape 8"/>
          <p:cNvSpPr/>
          <p:nvPr/>
        </p:nvSpPr>
        <p:spPr>
          <a:xfrm>
            <a:off x="594360" y="4251960"/>
            <a:ext cx="10972800" cy="10973"/>
          </a:xfrm>
          <a:prstGeom prst="rect">
            <a:avLst/>
          </a:prstGeom>
          <a:solidFill>
            <a:srgbClr val="D6DCD4"/>
          </a:solidFill>
          <a:ln w="12700">
            <a:solidFill>
              <a:srgbClr val="D6DCD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600" b="1" dirty="0">
                <a:solidFill>
                  <a:srgbClr val="F66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РЕЗУЛЬТАТ</a:t>
            </a:r>
            <a:endParaRPr lang="ru-RU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44348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5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Перенос, новый талон, потерянный слот</a:t>
            </a:r>
            <a:endParaRPr lang="ru-RU" sz="2500" dirty="0"/>
          </a:p>
        </p:txBody>
      </p:sp>
      <p:sp>
        <p:nvSpPr>
          <p:cNvPr id="14" name="Shape 11"/>
          <p:cNvSpPr/>
          <p:nvPr/>
        </p:nvSpPr>
        <p:spPr>
          <a:xfrm>
            <a:off x="594360" y="5120640"/>
            <a:ext cx="10972800" cy="10973"/>
          </a:xfrm>
          <a:prstGeom prst="rect">
            <a:avLst/>
          </a:prstGeom>
          <a:solidFill>
            <a:srgbClr val="D6DCD4"/>
          </a:solidFill>
          <a:ln w="12700">
            <a:solidFill>
              <a:srgbClr val="D6DCD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669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031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Напоминаем не только дату. Заранее проверяем, понял ли человек подготовку.</a:t>
            </a:r>
            <a:endParaRPr lang="ru-RU" sz="2031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Только инструкции, утверждённые клиникой для конкретного исследования. Спорный случай решает сотрудник.</a:t>
            </a:r>
            <a:endParaRPr lang="ru-RU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/ РОБОТ СВЯЗЫВАЕТСЯ ТОГДА, КОГДА ЕЩЁ МОЖНО ЧТО-ТО ИЗМЕНИТЬ</a:t>
            </a:r>
            <a:endParaRPr lang="ru-RU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36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один звонок накануне.</a:t>
            </a:r>
            <a:endParaRPr lang="ru-RU" sz="36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36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Управляемый цикл подтверждений.</a:t>
            </a:r>
            <a:endParaRPr lang="ru-RU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2834640"/>
            <a:ext cx="3383280" cy="50292"/>
          </a:xfrm>
          <a:prstGeom prst="rect">
            <a:avLst/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4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ЗАРАНЕЕ</a:t>
            </a:r>
            <a:endParaRPr lang="ru-RU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8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Уточнить планы</a:t>
            </a:r>
            <a:endParaRPr lang="ru-RU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4617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0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Неделя / три дня / иной срок</a:t>
            </a:r>
            <a:endParaRPr lang="ru-RU" sz="2000" dirty="0"/>
          </a:p>
        </p:txBody>
      </p:sp>
      <p:sp>
        <p:nvSpPr>
          <p:cNvPr id="9" name="Shape 7"/>
          <p:cNvSpPr/>
          <p:nvPr/>
        </p:nvSpPr>
        <p:spPr>
          <a:xfrm>
            <a:off x="4389120" y="2834640"/>
            <a:ext cx="3383280" cy="50292"/>
          </a:xfrm>
          <a:prstGeom prst="rect">
            <a:avLst/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4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НАКАНУНЕ</a:t>
            </a:r>
            <a:endParaRPr lang="ru-RU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8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Подтвердить визит</a:t>
            </a:r>
            <a:endParaRPr lang="ru-RU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4617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0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Перенести или отменить при отказе</a:t>
            </a:r>
            <a:endParaRPr lang="ru-RU" sz="2000" dirty="0"/>
          </a:p>
        </p:txBody>
      </p:sp>
      <p:sp>
        <p:nvSpPr>
          <p:cNvPr id="13" name="Shape 11"/>
          <p:cNvSpPr/>
          <p:nvPr/>
        </p:nvSpPr>
        <p:spPr>
          <a:xfrm>
            <a:off x="8183880" y="2834640"/>
            <a:ext cx="3383280" cy="50292"/>
          </a:xfrm>
          <a:prstGeom prst="rect">
            <a:avLst/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4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 ДЕНЬ ВИЗИТА</a:t>
            </a:r>
            <a:endParaRPr lang="ru-RU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8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Проверить готовность</a:t>
            </a:r>
            <a:endParaRPr lang="ru-RU" sz="2800" dirty="0"/>
          </a:p>
        </p:txBody>
      </p:sp>
      <p:sp>
        <p:nvSpPr>
          <p:cNvPr id="16" name="Text 14"/>
          <p:cNvSpPr/>
          <p:nvPr/>
        </p:nvSpPr>
        <p:spPr>
          <a:xfrm>
            <a:off x="8183880" y="4617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0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Если есть время и это уместно</a:t>
            </a:r>
            <a:endParaRPr lang="ru-RU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9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Подтвердил — ждём. Отказался — переносим. Освободил слот — ищем замену.</a:t>
            </a:r>
            <a:endParaRPr lang="ru-RU" sz="19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Частота зависит от ожидания, подготовки, предпочтений и согласия на связь. Сроки — настройки, не медицинские нормы.</a:t>
            </a:r>
            <a:endParaRPr lang="ru-RU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/ КЛЮЧЕВАЯ МЕХАНИКА — КАСКАДНОЕ ЗАПОЛНЕНИЕ СЛОТОВ</a:t>
            </a:r>
            <a:endParaRPr lang="ru-RU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4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Отказ одного пациента —</a:t>
            </a:r>
            <a:endParaRPr lang="ru-RU" sz="41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4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шанс для следующего.</a:t>
            </a:r>
            <a:endParaRPr lang="ru-RU" sz="41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СЕЙЧАС</a:t>
            </a:r>
            <a:endParaRPr lang="ru-RU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 АССИСТЕНТОМ</a:t>
            </a:r>
            <a:endParaRPr lang="ru-RU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5029200" cy="457200"/>
          </a:xfrm>
          <a:prstGeom prst="roundRect">
            <a:avLst>
              <a:gd name="adj" fmla="val 16667"/>
            </a:avLst>
          </a:prstGeom>
          <a:solidFill>
            <a:srgbClr val="543C32"/>
          </a:solidFill>
          <a:ln w="12700">
            <a:solidFill>
              <a:srgbClr val="543C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10:00   Отмена — пустое время</a:t>
            </a:r>
            <a:endParaRPr lang="ru-RU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749040"/>
            <a:ext cx="5029200" cy="457200"/>
          </a:xfrm>
          <a:prstGeom prst="roundRect">
            <a:avLst>
              <a:gd name="adj" fmla="val 16667"/>
            </a:avLst>
          </a:prstGeom>
          <a:solidFill>
            <a:srgbClr val="21433A"/>
          </a:solidFill>
          <a:ln w="12700">
            <a:solidFill>
              <a:srgbClr val="21433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10:20   Пациент Б</a:t>
            </a:r>
            <a:endParaRPr lang="ru-RU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4389120"/>
            <a:ext cx="5029200" cy="457200"/>
          </a:xfrm>
          <a:prstGeom prst="roundRect">
            <a:avLst>
              <a:gd name="adj" fmla="val 16667"/>
            </a:avLst>
          </a:prstGeom>
          <a:solidFill>
            <a:srgbClr val="21433A"/>
          </a:solidFill>
          <a:ln w="12700">
            <a:solidFill>
              <a:srgbClr val="21433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10:40   Пациент В</a:t>
            </a:r>
            <a:endParaRPr lang="ru-RU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3108960"/>
            <a:ext cx="5074920" cy="457200"/>
          </a:xfrm>
          <a:prstGeom prst="roundRect">
            <a:avLst>
              <a:gd name="adj" fmla="val 16667"/>
            </a:avLst>
          </a:prstGeom>
          <a:solidFill>
            <a:srgbClr val="21433A"/>
          </a:solidFill>
          <a:ln w="12700">
            <a:solidFill>
              <a:srgbClr val="21433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200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10:00   Б согласился прийти раньше</a:t>
            </a:r>
            <a:endParaRPr lang="ru-RU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3749040"/>
            <a:ext cx="5074920" cy="457200"/>
          </a:xfrm>
          <a:prstGeom prst="roundRect">
            <a:avLst>
              <a:gd name="adj" fmla="val 16667"/>
            </a:avLst>
          </a:prstGeom>
          <a:solidFill>
            <a:srgbClr val="21433A"/>
          </a:solidFill>
          <a:ln w="12700">
            <a:solidFill>
              <a:srgbClr val="21433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840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10:20   В подтвердил перенос</a:t>
            </a:r>
            <a:endParaRPr lang="ru-RU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4389120"/>
            <a:ext cx="5074920" cy="457200"/>
          </a:xfrm>
          <a:prstGeom prst="roundRect">
            <a:avLst>
              <a:gd name="adj" fmla="val 16667"/>
            </a:avLst>
          </a:prstGeom>
          <a:solidFill>
            <a:srgbClr val="21433A"/>
          </a:solidFill>
          <a:ln w="12700">
            <a:solidFill>
              <a:srgbClr val="2143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480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10:40   Предложение листу ожидания</a:t>
            </a:r>
            <a:endParaRPr lang="ru-RU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06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Предлагаем по очереди. Нет ответа — следующий кандидат.</a:t>
            </a:r>
            <a:endParaRPr lang="ru-RU" sz="2063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06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Останавливаемся при заполнении слота или истечении времени.</a:t>
            </a:r>
            <a:endParaRPr lang="ru-RU" sz="2063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A9C5B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Схема иллюстративная. Любой перенос — только после согласия; исходная запись сохраняется до подтверждения.</a:t>
            </a:r>
            <a:endParaRPr lang="ru-RU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/ ПОВТОРНАЯ ЗАПИСЬ БЕЗ ЛИШНЕГО КРУГА ЧЕРЕЗ ТЕРАПЕВТА</a:t>
            </a:r>
            <a:endParaRPr lang="ru-RU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34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Хронический пациент уже наблюдается.</a:t>
            </a:r>
            <a:endParaRPr lang="ru-RU" sz="34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34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Зачем начинать маршрут заново?</a:t>
            </a:r>
            <a:endParaRPr lang="ru-RU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468880"/>
            <a:ext cx="10972800" cy="2423160"/>
          </a:xfrm>
          <a:prstGeom prst="roundRect">
            <a:avLst>
              <a:gd name="adj" fmla="val 3145"/>
            </a:avLst>
          </a:prstGeom>
          <a:solidFill>
            <a:srgbClr val="102B2A"/>
          </a:solidFill>
          <a:ln w="12700">
            <a:solidFill>
              <a:srgbClr val="102B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ПАЦИЕНТ</a:t>
            </a:r>
            <a:endParaRPr lang="ru-RU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ОСНОВАНИЕ ОТ ВРАЧА</a:t>
            </a:r>
            <a:endParaRPr lang="ru-RU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CDEA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ДЕЙСТВИЕ</a:t>
            </a:r>
            <a:endParaRPr lang="ru-RU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Новый запрос</a:t>
            </a:r>
            <a:endParaRPr lang="ru-RU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3337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Действующего основания нет</a:t>
            </a:r>
            <a:endParaRPr lang="ru-RU" sz="1500" dirty="0"/>
          </a:p>
        </p:txBody>
      </p:sp>
      <p:sp>
        <p:nvSpPr>
          <p:cNvPr id="11" name="Text 9"/>
          <p:cNvSpPr/>
          <p:nvPr/>
        </p:nvSpPr>
        <p:spPr>
          <a:xfrm>
            <a:off x="768096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Первичный маршрут*</a:t>
            </a:r>
            <a:endParaRPr lang="ru-RU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Наблюдение</a:t>
            </a:r>
            <a:endParaRPr lang="ru-RU" sz="1500" dirty="0"/>
          </a:p>
        </p:txBody>
      </p:sp>
      <p:sp>
        <p:nvSpPr>
          <p:cNvPr id="13" name="Text 11"/>
          <p:cNvSpPr/>
          <p:nvPr/>
        </p:nvSpPr>
        <p:spPr>
          <a:xfrm>
            <a:off x="3108960" y="3794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Разрешена повторная запись</a:t>
            </a:r>
            <a:endParaRPr lang="ru-RU" sz="1500" dirty="0"/>
          </a:p>
        </p:txBody>
      </p:sp>
      <p:sp>
        <p:nvSpPr>
          <p:cNvPr id="14" name="Text 12"/>
          <p:cNvSpPr/>
          <p:nvPr/>
        </p:nvSpPr>
        <p:spPr>
          <a:xfrm>
            <a:off x="768096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Сразу к специалисту</a:t>
            </a:r>
            <a:endParaRPr lang="ru-RU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Срок истекает</a:t>
            </a:r>
            <a:endParaRPr lang="ru-RU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Приём позже срока основания</a:t>
            </a:r>
            <a:endParaRPr lang="ru-RU" sz="1500" dirty="0"/>
          </a:p>
        </p:txBody>
      </p:sp>
      <p:sp>
        <p:nvSpPr>
          <p:cNvPr id="17" name="Text 15"/>
          <p:cNvSpPr/>
          <p:nvPr/>
        </p:nvSpPr>
        <p:spPr>
          <a:xfrm>
            <a:off x="768096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 проверку заранее</a:t>
            </a:r>
            <a:endParaRPr lang="ru-RU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5257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1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Кто разрешил. К кому. На какой срок. Сколько посещений.</a:t>
            </a:r>
            <a:endParaRPr lang="ru-RU" sz="21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1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Клинике и страховой — прослеживаемый маршрут.</a:t>
            </a:r>
            <a:endParaRPr lang="ru-RU" sz="21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* Где требуется. Сроки направлений не универсальны. Реестр не продлевает их и не меняет правила ОМС.</a:t>
            </a:r>
            <a:endParaRPr lang="ru-RU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/ ВРАЧУ НУЖНА ВИДИМОСТЬ, А НЕ СЮРПРИЗ У КАБИНЕТА</a:t>
            </a:r>
            <a:endParaRPr lang="ru-RU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37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Кто подтвердил? Кто молчит?</a:t>
            </a:r>
            <a:endParaRPr lang="ru-RU" sz="37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37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Кому стоит напомнить ещё раз?</a:t>
            </a:r>
            <a:endParaRPr lang="ru-RU" sz="370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146304" cy="594360"/>
          </a:xfrm>
          <a:prstGeom prst="roundRect">
            <a:avLst>
              <a:gd name="adj" fmla="val 52083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7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ПОДТВЕРДИЛ</a:t>
            </a:r>
            <a:endParaRPr lang="ru-RU" sz="1700" dirty="0"/>
          </a:p>
        </p:txBody>
      </p:sp>
      <p:sp>
        <p:nvSpPr>
          <p:cNvPr id="7" name="Text 5"/>
          <p:cNvSpPr/>
          <p:nvPr/>
        </p:nvSpPr>
        <p:spPr>
          <a:xfrm>
            <a:off x="438912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1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Планируем состоявшийся приём</a:t>
            </a:r>
            <a:endParaRPr lang="ru-RU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3566160"/>
            <a:ext cx="146304" cy="594360"/>
          </a:xfrm>
          <a:prstGeom prst="roundRect">
            <a:avLst>
              <a:gd name="adj" fmla="val 52083"/>
            </a:avLst>
          </a:prstGeom>
          <a:solidFill>
            <a:srgbClr val="C39B2B"/>
          </a:solidFill>
          <a:ln w="12700">
            <a:solidFill>
              <a:srgbClr val="C39B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700" b="1" dirty="0">
                <a:solidFill>
                  <a:srgbClr val="C39B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ОТВЕТА</a:t>
            </a:r>
            <a:endParaRPr lang="ru-RU" sz="1700" dirty="0"/>
          </a:p>
        </p:txBody>
      </p:sp>
      <p:sp>
        <p:nvSpPr>
          <p:cNvPr id="10" name="Text 8"/>
          <p:cNvSpPr/>
          <p:nvPr/>
        </p:nvSpPr>
        <p:spPr>
          <a:xfrm>
            <a:off x="4389120" y="3657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1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Запись сохраняется; нужен следующий контакт</a:t>
            </a:r>
            <a:endParaRPr lang="ru-RU" sz="2100" dirty="0"/>
          </a:p>
        </p:txBody>
      </p:sp>
      <p:sp>
        <p:nvSpPr>
          <p:cNvPr id="11" name="Shape 9"/>
          <p:cNvSpPr/>
          <p:nvPr/>
        </p:nvSpPr>
        <p:spPr>
          <a:xfrm>
            <a:off x="594360" y="4480560"/>
            <a:ext cx="146304" cy="594360"/>
          </a:xfrm>
          <a:prstGeom prst="roundRect">
            <a:avLst>
              <a:gd name="adj" fmla="val 52083"/>
            </a:avLst>
          </a:prstGeom>
          <a:solidFill>
            <a:srgbClr val="F66A43"/>
          </a:solidFill>
          <a:ln w="12700">
            <a:solidFill>
              <a:srgbClr val="F66A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572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700" b="1" dirty="0">
                <a:solidFill>
                  <a:srgbClr val="F66A4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ЯВНО ОТКАЗАЛСЯ</a:t>
            </a:r>
            <a:endParaRPr lang="ru-RU" sz="1700" dirty="0"/>
          </a:p>
        </p:txBody>
      </p:sp>
      <p:sp>
        <p:nvSpPr>
          <p:cNvPr id="13" name="Text 11"/>
          <p:cNvSpPr/>
          <p:nvPr/>
        </p:nvSpPr>
        <p:spPr>
          <a:xfrm>
            <a:off x="4389120" y="4572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1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Переносим / отменяем и предлагаем слот</a:t>
            </a:r>
            <a:endParaRPr lang="ru-RU" sz="2100" dirty="0"/>
          </a:p>
        </p:txBody>
      </p:sp>
      <p:sp>
        <p:nvSpPr>
          <p:cNvPr id="14" name="Text 12"/>
          <p:cNvSpPr/>
          <p:nvPr/>
        </p:nvSpPr>
        <p:spPr>
          <a:xfrm>
            <a:off x="594360" y="57150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969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История неявок помогает выбрать напоминание — но не лишает права на запись.</a:t>
            </a:r>
            <a:endParaRPr lang="ru-RU" sz="1969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Оценка вероятности — гипотеза для пилота. Никаких отмен по молчанию, дискриминации и двойного бронирования.</a:t>
            </a:r>
            <a:endParaRPr lang="ru-RU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/ ГОЛОС ОСТАВЛЯЕМ ТАМ, ГДЕ ОН ДЕЙСТВИТЕЛЬНО НУЖЕН</a:t>
            </a:r>
            <a:endParaRPr lang="ru-RU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35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Текст дешевле звонка.</a:t>
            </a:r>
            <a:endParaRPr lang="ru-RU" sz="35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35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Дадим пациенту выбор.</a:t>
            </a:r>
            <a:endParaRPr lang="ru-RU" sz="3500" dirty="0"/>
          </a:p>
        </p:txBody>
      </p:sp>
      <p:sp>
        <p:nvSpPr>
          <p:cNvPr id="5" name="Text 3"/>
          <p:cNvSpPr/>
          <p:nvPr/>
        </p:nvSpPr>
        <p:spPr>
          <a:xfrm>
            <a:off x="594360" y="292608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4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Подтвердить в чате — одна кнопка.</a:t>
            </a:r>
            <a:endParaRPr lang="ru-RU" sz="24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4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ответа — следующий контакт.</a:t>
            </a:r>
            <a:endParaRPr lang="ru-RU" sz="24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4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Нестандартный вопрос — человек.</a:t>
            </a:r>
            <a:endParaRPr lang="ru-RU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502920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4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Один сценарий. Телефон, сайт,</a:t>
            </a:r>
            <a:endParaRPr lang="ru-RU" sz="24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24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допустимый мессенджер.</a:t>
            </a:r>
            <a:endParaRPr lang="ru-RU" sz="2400" dirty="0"/>
          </a:p>
        </p:txBody>
      </p:sp>
      <p:sp>
        <p:nvSpPr>
          <p:cNvPr id="7" name="Shape 5"/>
          <p:cNvSpPr/>
          <p:nvPr/>
        </p:nvSpPr>
        <p:spPr>
          <a:xfrm>
            <a:off x="7315200" y="1097280"/>
            <a:ext cx="3749040" cy="5029200"/>
          </a:xfrm>
          <a:prstGeom prst="roundRect">
            <a:avLst>
              <a:gd name="adj" fmla="val 2033"/>
            </a:avLst>
          </a:prstGeom>
          <a:solidFill>
            <a:srgbClr val="102B2A"/>
          </a:solidFill>
          <a:ln w="12700">
            <a:solidFill>
              <a:srgbClr val="102B2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554480"/>
            <a:ext cx="3383280" cy="4297680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3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ПОЛИКЛИНИКА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2468880"/>
            <a:ext cx="2926080" cy="1280160"/>
          </a:xfrm>
          <a:prstGeom prst="roundRect">
            <a:avLst>
              <a:gd name="adj" fmla="val 5952"/>
            </a:avLst>
          </a:prstGeom>
          <a:solidFill>
            <a:srgbClr val="F4F1E9"/>
          </a:solidFill>
          <a:ln w="12700">
            <a:solidFill>
              <a:srgbClr val="F4F1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6791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7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Приём завтра.</a:t>
            </a:r>
            <a:endParaRPr lang="ru-RU" sz="17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17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Сможете прийти?</a:t>
            </a:r>
            <a:endParaRPr lang="ru-RU" sz="17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17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Памятка подготовки</a:t>
            </a:r>
            <a:endParaRPr lang="ru-RU" sz="1700" dirty="0"/>
          </a:p>
        </p:txBody>
      </p:sp>
      <p:sp>
        <p:nvSpPr>
          <p:cNvPr id="12" name="Shape 10"/>
          <p:cNvSpPr/>
          <p:nvPr/>
        </p:nvSpPr>
        <p:spPr>
          <a:xfrm>
            <a:off x="7726680" y="4114800"/>
            <a:ext cx="2926080" cy="502920"/>
          </a:xfrm>
          <a:prstGeom prst="roundRect">
            <a:avLst>
              <a:gd name="adj" fmla="val 15152"/>
            </a:avLst>
          </a:prstGeom>
          <a:solidFill>
            <a:srgbClr val="007F70"/>
          </a:solidFill>
          <a:ln w="12700">
            <a:solidFill>
              <a:srgbClr val="007F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Подтвердить</a:t>
            </a:r>
            <a:endParaRPr lang="ru-RU" sz="1600" dirty="0"/>
          </a:p>
        </p:txBody>
      </p:sp>
      <p:sp>
        <p:nvSpPr>
          <p:cNvPr id="14" name="Shape 12"/>
          <p:cNvSpPr/>
          <p:nvPr/>
        </p:nvSpPr>
        <p:spPr>
          <a:xfrm>
            <a:off x="7726680" y="4846320"/>
            <a:ext cx="2926080" cy="502920"/>
          </a:xfrm>
          <a:prstGeom prst="roundRect">
            <a:avLst>
              <a:gd name="adj" fmla="val 15152"/>
            </a:avLst>
          </a:prstGeom>
          <a:solidFill>
            <a:srgbClr val="152C2B"/>
          </a:solidFill>
          <a:ln w="12700">
            <a:solidFill>
              <a:srgbClr val="152C2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965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Перенести</a:t>
            </a:r>
            <a:endParaRPr lang="ru-RU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Экономию проверяем по стоимости завершённого обращения. ПДн — только в допустимом защищённом контуре.</a:t>
            </a:r>
            <a:endParaRPr lang="ru-RU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0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АВТОМАТИЗАЦИЯ ТОЖЕ СТОИТ ДЕНЕГ</a:t>
            </a:r>
            <a:endParaRPr lang="ru-RU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2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39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нужен дорогой ИИ</a:t>
            </a:r>
            <a:endParaRPr lang="ru-RU" sz="3900" dirty="0"/>
          </a:p>
          <a:p>
            <a:pPr indent="0" marL="0">
              <a:lnSpc>
                <a:spcPct val="118000"/>
              </a:lnSpc>
              <a:buNone/>
            </a:pPr>
            <a:r>
              <a:rPr lang="ru-RU" altLang="en-US" sz="3900" b="1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для каждого «да» и «нет».</a:t>
            </a:r>
            <a:endParaRPr lang="ru-RU" sz="39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4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ГОТОВЫЕ ФРАЗЫ</a:t>
            </a:r>
            <a:endParaRPr lang="ru-RU" sz="1400" dirty="0"/>
          </a:p>
        </p:txBody>
      </p:sp>
      <p:sp>
        <p:nvSpPr>
          <p:cNvPr id="6" name="Text 4"/>
          <p:cNvSpPr/>
          <p:nvPr/>
        </p:nvSpPr>
        <p:spPr>
          <a:xfrm>
            <a:off x="4069080" y="2697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2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генерируем стандартный ответ заново</a:t>
            </a:r>
            <a:endParaRPr lang="ru-RU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328416"/>
            <a:ext cx="10972800" cy="10973"/>
          </a:xfrm>
          <a:prstGeom prst="rect">
            <a:avLst/>
          </a:prstGeom>
          <a:solidFill>
            <a:srgbClr val="D6DCD4"/>
          </a:solidFill>
          <a:ln w="12700">
            <a:solidFill>
              <a:srgbClr val="D6D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02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4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НЕБОЛЬШАЯ МОДЕЛЬ</a:t>
            </a:r>
            <a:endParaRPr lang="ru-RU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350215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2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Только понять реплику и выбрать действие</a:t>
            </a:r>
            <a:endParaRPr lang="ru-RU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4133088"/>
            <a:ext cx="10972800" cy="10973"/>
          </a:xfrm>
          <a:prstGeom prst="rect">
            <a:avLst/>
          </a:prstGeom>
          <a:solidFill>
            <a:srgbClr val="D6DCD4"/>
          </a:solidFill>
          <a:ln w="12700">
            <a:solidFill>
              <a:srgbClr val="D6DC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306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400" b="1" dirty="0">
                <a:solidFill>
                  <a:srgbClr val="007F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СВОЙ КОНТУР</a:t>
            </a:r>
            <a:endParaRPr lang="ru-RU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430682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2200" dirty="0">
                <a:solidFill>
                  <a:srgbClr val="152C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Сервер клиники или защищённая платформа</a:t>
            </a:r>
            <a:endParaRPr lang="ru-RU" sz="2200" dirty="0"/>
          </a:p>
        </p:txBody>
      </p:sp>
      <p:sp>
        <p:nvSpPr>
          <p:cNvPr id="13" name="Shape 11"/>
          <p:cNvSpPr/>
          <p:nvPr/>
        </p:nvSpPr>
        <p:spPr>
          <a:xfrm>
            <a:off x="594360" y="4937760"/>
            <a:ext cx="10972800" cy="10973"/>
          </a:xfrm>
          <a:prstGeom prst="rect">
            <a:avLst/>
          </a:prstGeom>
          <a:solidFill>
            <a:srgbClr val="D6DCD4"/>
          </a:solidFill>
          <a:ln w="12700">
            <a:solidFill>
              <a:srgbClr val="D6DCD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5440680"/>
            <a:ext cx="10972800" cy="658368"/>
          </a:xfrm>
          <a:prstGeom prst="roundRect">
            <a:avLst>
              <a:gd name="adj" fmla="val 11574"/>
            </a:avLst>
          </a:prstGeom>
          <a:solidFill>
            <a:srgbClr val="152C2B"/>
          </a:solidFill>
          <a:ln w="12700">
            <a:solidFill>
              <a:srgbClr val="152C2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6235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Связь + вычисления + поддержка = стоимость завершённого обращения</a:t>
            </a:r>
            <a:endParaRPr lang="ru-RU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ru-RU" altLang="en-US" sz="800" dirty="0">
                <a:solidFill>
                  <a:srgbClr val="6474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 сбое — резервное сообщение и оператор. Позиция и время ожидания берутся из реальной очереди.</a:t>
            </a:r>
            <a:endParaRPr lang="ru-RU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Регистратура: производительность процесса</dc:title>
  <dc:subject>Производительность процесса регистратуры</dc:subject>
  <dc:creator>MILP-ops</dc:creator>
  <cp:lastModifiedBy>MILP-ops</cp:lastModifiedBy>
  <cp:revision>1</cp:revision>
  <dcterms:created xsi:type="dcterms:W3CDTF">2026-10-15T18:29:44Z</dcterms:created>
  <dcterms:modified xsi:type="dcterms:W3CDTF">2026-10-15T18:29:44Z</dcterms:modified>
</cp:coreProperties>
</file>